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gRUOuIMM5SOY5IXbZPRmQ3yDvP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409503f6562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g409503f6562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g409503f6562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5bda0a1c8_0_10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g3e5bda0a1c8_0_10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e5bda0a1c8_0_10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5bda0a1c8_0_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g3e5bda0a1c8_0_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e5bda0a1c8_0_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5bda0a1c8_0_1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g3e5bda0a1c8_0_1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e5bda0a1c8_0_1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5bda0a1c8_0_17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g3e5bda0a1c8_0_17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e5bda0a1c8_0_17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5bda0a1c8_0_1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g3e5bda0a1c8_0_1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e5bda0a1c8_0_1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5bda0a1c8_0_15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g3e5bda0a1c8_0_15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e5bda0a1c8_0_15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5bda0a1c8_0_8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g3e5bda0a1c8_0_8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e5bda0a1c8_0_8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09503f6562_0_1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409503f6562_0_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5" name="Google Shape;35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7" name="Google Shape;41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2" name="Google Shape;44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3" name="Google Shape;46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e5bda0a1c8_0_3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4" name="Google Shape;504;g3e5bda0a1c8_0_3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e5bda0a1c8_0_3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e5bda0a1c8_0_20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8" name="Google Shape;518;g3e5bda0a1c8_0_20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3e5bda0a1c8_0_20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9" name="Google Shape;529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drive.google.com/file/d/1YjZMFwXMMI5gNZ_xo7VBbB9hhsLOb9I9/view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www.kaggle.com/datasets/pritpal2873/multiple-skin-disease-detection-and-classification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3B8BDE">
              <a:alpha val="20000"/>
            </a:srgbClr>
          </a:solidFill>
          <a:ln cap="flat" cmpd="sng" w="12700">
            <a:solidFill>
              <a:srgbClr val="3B8BD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7955280" y="-274320"/>
            <a:ext cx="1371600" cy="1371600"/>
          </a:xfrm>
          <a:prstGeom prst="ellipse">
            <a:avLst/>
          </a:prstGeom>
          <a:solidFill>
            <a:srgbClr val="00A896">
              <a:alpha val="30196"/>
            </a:srgbClr>
          </a:solidFill>
          <a:ln cap="flat" cmpd="sng" w="12700">
            <a:solidFill>
              <a:srgbClr val="00A89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Skin Disease Detection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Deep Learning · HAM10000 · EfficientNet-B2 + Grad-CAM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651760"/>
            <a:ext cx="5029200" cy="27432"/>
          </a:xfrm>
          <a:prstGeom prst="rect">
            <a:avLst/>
          </a:prstGeom>
          <a:solidFill>
            <a:srgbClr val="8899AA"/>
          </a:solidFill>
          <a:ln cap="flat" cmpd="sng" w="12700">
            <a:solidFill>
              <a:srgbClr val="889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Pau Duran Mayol  ·  Ana Enrech Montull  ·  Alejandro Balboa Ruiz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UPF Deep Learning 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409503f6562_1_0"/>
          <p:cNvSpPr/>
          <p:nvPr/>
        </p:nvSpPr>
        <p:spPr>
          <a:xfrm>
            <a:off x="0" y="0"/>
            <a:ext cx="4389000" cy="514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g409503f6562_1_0"/>
          <p:cNvSpPr/>
          <p:nvPr/>
        </p:nvSpPr>
        <p:spPr>
          <a:xfrm>
            <a:off x="0" y="0"/>
            <a:ext cx="4389000" cy="732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409503f6562_1_0"/>
          <p:cNvSpPr/>
          <p:nvPr/>
        </p:nvSpPr>
        <p:spPr>
          <a:xfrm>
            <a:off x="365760" y="164592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409503f6562_1_0"/>
          <p:cNvSpPr/>
          <p:nvPr/>
        </p:nvSpPr>
        <p:spPr>
          <a:xfrm>
            <a:off x="365760" y="502920"/>
            <a:ext cx="3840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409503f6562_1_0"/>
          <p:cNvSpPr/>
          <p:nvPr/>
        </p:nvSpPr>
        <p:spPr>
          <a:xfrm>
            <a:off x="365750" y="1234450"/>
            <a:ext cx="37947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Build a deep learning system that classifies lesions as benign or malignant and provides visual explainability via Grad-CAM.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409503f6562_1_0"/>
          <p:cNvSpPr/>
          <p:nvPr/>
        </p:nvSpPr>
        <p:spPr>
          <a:xfrm>
            <a:off x="365760" y="2651760"/>
            <a:ext cx="694800" cy="255900"/>
          </a:xfrm>
          <a:prstGeom prst="roundRect">
            <a:avLst>
              <a:gd fmla="val 17857" name="adj"/>
            </a:avLst>
          </a:prstGeom>
          <a:solidFill>
            <a:srgbClr val="1B5EA6">
              <a:alpha val="85100"/>
            </a:srgbClr>
          </a:solidFill>
          <a:ln cap="flat" cmpd="sng" w="9525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409503f6562_1_0"/>
          <p:cNvSpPr/>
          <p:nvPr/>
        </p:nvSpPr>
        <p:spPr>
          <a:xfrm>
            <a:off x="365760" y="2651760"/>
            <a:ext cx="69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409503f6562_1_0"/>
          <p:cNvSpPr/>
          <p:nvPr/>
        </p:nvSpPr>
        <p:spPr>
          <a:xfrm>
            <a:off x="1065276" y="2683764"/>
            <a:ext cx="54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g409503f6562_1_0"/>
          <p:cNvSpPr/>
          <p:nvPr/>
        </p:nvSpPr>
        <p:spPr>
          <a:xfrm>
            <a:off x="1115568" y="2651760"/>
            <a:ext cx="694800" cy="255900"/>
          </a:xfrm>
          <a:prstGeom prst="roundRect">
            <a:avLst>
              <a:gd fmla="val 17857" name="adj"/>
            </a:avLst>
          </a:prstGeom>
          <a:solidFill>
            <a:srgbClr val="1B5EA6">
              <a:alpha val="85100"/>
            </a:srgbClr>
          </a:solidFill>
          <a:ln cap="flat" cmpd="sng" w="9525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409503f6562_1_0"/>
          <p:cNvSpPr/>
          <p:nvPr/>
        </p:nvSpPr>
        <p:spPr>
          <a:xfrm>
            <a:off x="1115568" y="2651760"/>
            <a:ext cx="69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g409503f6562_1_0"/>
          <p:cNvSpPr/>
          <p:nvPr/>
        </p:nvSpPr>
        <p:spPr>
          <a:xfrm>
            <a:off x="1815084" y="2683764"/>
            <a:ext cx="54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409503f6562_1_0"/>
          <p:cNvSpPr/>
          <p:nvPr/>
        </p:nvSpPr>
        <p:spPr>
          <a:xfrm>
            <a:off x="1865376" y="2651760"/>
            <a:ext cx="694800" cy="255900"/>
          </a:xfrm>
          <a:prstGeom prst="roundRect">
            <a:avLst>
              <a:gd fmla="val 17857" name="adj"/>
            </a:avLst>
          </a:prstGeom>
          <a:solidFill>
            <a:srgbClr val="5B3DA8">
              <a:alpha val="85100"/>
            </a:srgbClr>
          </a:solidFill>
          <a:ln cap="flat" cmpd="sng" w="9525">
            <a:solidFill>
              <a:srgbClr val="5B3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409503f6562_1_0"/>
          <p:cNvSpPr/>
          <p:nvPr/>
        </p:nvSpPr>
        <p:spPr>
          <a:xfrm>
            <a:off x="1865376" y="2651760"/>
            <a:ext cx="69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409503f6562_1_0"/>
          <p:cNvSpPr/>
          <p:nvPr/>
        </p:nvSpPr>
        <p:spPr>
          <a:xfrm>
            <a:off x="2564892" y="2683764"/>
            <a:ext cx="54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409503f6562_1_0"/>
          <p:cNvSpPr/>
          <p:nvPr/>
        </p:nvSpPr>
        <p:spPr>
          <a:xfrm>
            <a:off x="2615184" y="2651760"/>
            <a:ext cx="694800" cy="255900"/>
          </a:xfrm>
          <a:prstGeom prst="roundRect">
            <a:avLst>
              <a:gd fmla="val 17857" name="adj"/>
            </a:avLst>
          </a:prstGeom>
          <a:solidFill>
            <a:srgbClr val="5B3DA8">
              <a:alpha val="85100"/>
            </a:srgbClr>
          </a:solidFill>
          <a:ln cap="flat" cmpd="sng" w="9525">
            <a:solidFill>
              <a:srgbClr val="5B3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409503f6562_1_0"/>
          <p:cNvSpPr/>
          <p:nvPr/>
        </p:nvSpPr>
        <p:spPr>
          <a:xfrm>
            <a:off x="2615184" y="2651760"/>
            <a:ext cx="69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Transf. 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409503f6562_1_0"/>
          <p:cNvSpPr/>
          <p:nvPr/>
        </p:nvSpPr>
        <p:spPr>
          <a:xfrm>
            <a:off x="3314700" y="2683764"/>
            <a:ext cx="54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409503f6562_1_0"/>
          <p:cNvSpPr/>
          <p:nvPr/>
        </p:nvSpPr>
        <p:spPr>
          <a:xfrm>
            <a:off x="3364992" y="2651760"/>
            <a:ext cx="694800" cy="255900"/>
          </a:xfrm>
          <a:prstGeom prst="roundRect">
            <a:avLst>
              <a:gd fmla="val 17857" name="adj"/>
            </a:avLst>
          </a:prstGeom>
          <a:solidFill>
            <a:srgbClr val="0D9488">
              <a:alpha val="85100"/>
            </a:srgbClr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409503f6562_1_0"/>
          <p:cNvSpPr/>
          <p:nvPr/>
        </p:nvSpPr>
        <p:spPr>
          <a:xfrm>
            <a:off x="3364992" y="2651760"/>
            <a:ext cx="69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g409503f6562_1_0"/>
          <p:cNvCxnSpPr/>
          <p:nvPr/>
        </p:nvCxnSpPr>
        <p:spPr>
          <a:xfrm>
            <a:off x="365760" y="3063240"/>
            <a:ext cx="3657600" cy="0"/>
          </a:xfrm>
          <a:prstGeom prst="straightConnector1">
            <a:avLst/>
          </a:prstGeom>
          <a:noFill/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409503f6562_1_0"/>
          <p:cNvSpPr/>
          <p:nvPr/>
        </p:nvSpPr>
        <p:spPr>
          <a:xfrm>
            <a:off x="365760" y="3154680"/>
            <a:ext cx="37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HAM10000 · Kaggle · Tschandl et al., 2018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409503f6562_1_0"/>
          <p:cNvSpPr/>
          <p:nvPr/>
        </p:nvSpPr>
        <p:spPr>
          <a:xfrm>
            <a:off x="4663440" y="411480"/>
            <a:ext cx="2011800" cy="118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409503f6562_1_0"/>
          <p:cNvSpPr/>
          <p:nvPr/>
        </p:nvSpPr>
        <p:spPr>
          <a:xfrm>
            <a:off x="4663440" y="411480"/>
            <a:ext cx="2011800" cy="549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409503f6562_1_0"/>
          <p:cNvSpPr/>
          <p:nvPr/>
        </p:nvSpPr>
        <p:spPr>
          <a:xfrm>
            <a:off x="4663440" y="521208"/>
            <a:ext cx="201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A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B5EA6"/>
                </a:solidFill>
                <a:latin typeface="Calibri"/>
                <a:ea typeface="Calibri"/>
                <a:cs typeface="Calibri"/>
                <a:sym typeface="Calibri"/>
              </a:rPr>
              <a:t>10,015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409503f6562_1_0"/>
          <p:cNvSpPr/>
          <p:nvPr/>
        </p:nvSpPr>
        <p:spPr>
          <a:xfrm>
            <a:off x="4663440" y="1161288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dermoscopic images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g409503f6562_1_0"/>
          <p:cNvSpPr/>
          <p:nvPr/>
        </p:nvSpPr>
        <p:spPr>
          <a:xfrm>
            <a:off x="6903720" y="411480"/>
            <a:ext cx="2011800" cy="118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409503f6562_1_0"/>
          <p:cNvSpPr/>
          <p:nvPr/>
        </p:nvSpPr>
        <p:spPr>
          <a:xfrm>
            <a:off x="6903720" y="411480"/>
            <a:ext cx="2011800" cy="549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409503f6562_1_0"/>
          <p:cNvSpPr/>
          <p:nvPr/>
        </p:nvSpPr>
        <p:spPr>
          <a:xfrm>
            <a:off x="6903720" y="521208"/>
            <a:ext cx="201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A6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B5EA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409503f6562_1_0"/>
          <p:cNvSpPr/>
          <p:nvPr/>
        </p:nvSpPr>
        <p:spPr>
          <a:xfrm>
            <a:off x="6903720" y="1161288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lesion classes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409503f6562_1_0"/>
          <p:cNvSpPr/>
          <p:nvPr/>
        </p:nvSpPr>
        <p:spPr>
          <a:xfrm>
            <a:off x="4663440" y="1828800"/>
            <a:ext cx="2011800" cy="118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409503f6562_1_0"/>
          <p:cNvSpPr/>
          <p:nvPr/>
        </p:nvSpPr>
        <p:spPr>
          <a:xfrm>
            <a:off x="4663440" y="1828800"/>
            <a:ext cx="2011800" cy="549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409503f6562_1_0"/>
          <p:cNvSpPr/>
          <p:nvPr/>
        </p:nvSpPr>
        <p:spPr>
          <a:xfrm>
            <a:off x="4663440" y="1938528"/>
            <a:ext cx="201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409503f6562_1_0"/>
          <p:cNvSpPr/>
          <p:nvPr/>
        </p:nvSpPr>
        <p:spPr>
          <a:xfrm>
            <a:off x="4663440" y="2578608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malignant classes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409503f6562_1_0"/>
          <p:cNvSpPr/>
          <p:nvPr/>
        </p:nvSpPr>
        <p:spPr>
          <a:xfrm>
            <a:off x="6903720" y="1828800"/>
            <a:ext cx="2011800" cy="118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409503f6562_1_0"/>
          <p:cNvSpPr/>
          <p:nvPr/>
        </p:nvSpPr>
        <p:spPr>
          <a:xfrm>
            <a:off x="6903720" y="1828800"/>
            <a:ext cx="2011800" cy="54900"/>
          </a:xfrm>
          <a:prstGeom prst="rect">
            <a:avLst/>
          </a:prstGeom>
          <a:solidFill>
            <a:srgbClr val="5B3DA8"/>
          </a:solidFill>
          <a:ln cap="flat" cmpd="sng" w="12700">
            <a:solidFill>
              <a:srgbClr val="5B3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409503f6562_1_0"/>
          <p:cNvSpPr/>
          <p:nvPr/>
        </p:nvSpPr>
        <p:spPr>
          <a:xfrm>
            <a:off x="6903720" y="1938528"/>
            <a:ext cx="201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3DA8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5B3DA8"/>
                </a:solidFill>
                <a:latin typeface="Calibri"/>
                <a:ea typeface="Calibri"/>
                <a:cs typeface="Calibri"/>
                <a:sym typeface="Calibri"/>
              </a:rPr>
              <a:t>B2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409503f6562_1_0"/>
          <p:cNvSpPr/>
          <p:nvPr/>
        </p:nvSpPr>
        <p:spPr>
          <a:xfrm>
            <a:off x="6903720" y="2578608"/>
            <a:ext cx="201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EfficientNet-B2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409503f6562_1_0"/>
          <p:cNvSpPr/>
          <p:nvPr/>
        </p:nvSpPr>
        <p:spPr>
          <a:xfrm>
            <a:off x="4663440" y="3246120"/>
            <a:ext cx="4343400" cy="777300"/>
          </a:xfrm>
          <a:prstGeom prst="rect">
            <a:avLst/>
          </a:prstGeom>
          <a:solidFill>
            <a:srgbClr val="E8F5F2"/>
          </a:solidFill>
          <a:ln cap="flat" cmpd="sng" w="101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409503f6562_1_0"/>
          <p:cNvSpPr/>
          <p:nvPr/>
        </p:nvSpPr>
        <p:spPr>
          <a:xfrm>
            <a:off x="4846320" y="329184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Grad-CAM explainability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409503f6562_1_0"/>
          <p:cNvSpPr/>
          <p:nvPr/>
        </p:nvSpPr>
        <p:spPr>
          <a:xfrm>
            <a:off x="4846320" y="361188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Heatmap overlay on model predictions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409503f6562_1_0"/>
          <p:cNvSpPr/>
          <p:nvPr/>
        </p:nvSpPr>
        <p:spPr>
          <a:xfrm>
            <a:off x="411480" y="256032"/>
            <a:ext cx="1280100" cy="237600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409503f6562_1_0"/>
          <p:cNvSpPr/>
          <p:nvPr/>
        </p:nvSpPr>
        <p:spPr>
          <a:xfrm>
            <a:off x="411480" y="256032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5bda0a1c8_0_104"/>
          <p:cNvSpPr/>
          <p:nvPr/>
        </p:nvSpPr>
        <p:spPr>
          <a:xfrm>
            <a:off x="411480" y="256032"/>
            <a:ext cx="1280100" cy="237600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e5bda0a1c8_0_104"/>
          <p:cNvSpPr/>
          <p:nvPr/>
        </p:nvSpPr>
        <p:spPr>
          <a:xfrm>
            <a:off x="411480" y="256032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e5bda0a1c8_0_104"/>
          <p:cNvSpPr/>
          <p:nvPr/>
        </p:nvSpPr>
        <p:spPr>
          <a:xfrm>
            <a:off x="411480" y="594360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Project Schema</a:t>
            </a:r>
            <a:endParaRPr b="1" sz="2600"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g3e5bda0a1c8_0_104" title="Captura de pantalla 2026-05-31 a las 21.11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2125" y="774163"/>
            <a:ext cx="3739800" cy="417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5bda0a1c8_0_36"/>
          <p:cNvSpPr/>
          <p:nvPr/>
        </p:nvSpPr>
        <p:spPr>
          <a:xfrm>
            <a:off x="411480" y="256032"/>
            <a:ext cx="1280100" cy="237600"/>
          </a:xfrm>
          <a:prstGeom prst="rect">
            <a:avLst/>
          </a:prstGeom>
          <a:solidFill>
            <a:srgbClr val="5C3BC7"/>
          </a:solidFill>
          <a:ln cap="flat" cmpd="sng" w="12700">
            <a:solidFill>
              <a:srgbClr val="5C3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e5bda0a1c8_0_36"/>
          <p:cNvSpPr/>
          <p:nvPr/>
        </p:nvSpPr>
        <p:spPr>
          <a:xfrm>
            <a:off x="411480" y="256032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e5bda0a1c8_0_36"/>
          <p:cNvSpPr/>
          <p:nvPr/>
        </p:nvSpPr>
        <p:spPr>
          <a:xfrm>
            <a:off x="411480" y="594360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e5bda0a1c8_0_36"/>
          <p:cNvSpPr/>
          <p:nvPr/>
        </p:nvSpPr>
        <p:spPr>
          <a:xfrm>
            <a:off x="379500" y="3954899"/>
            <a:ext cx="54900" cy="444300"/>
          </a:xfrm>
          <a:prstGeom prst="rect">
            <a:avLst/>
          </a:prstGeom>
          <a:solidFill>
            <a:srgbClr val="5C3BC7"/>
          </a:solidFill>
          <a:ln cap="flat" cmpd="sng" w="12700">
            <a:solidFill>
              <a:srgbClr val="5C3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e5bda0a1c8_0_36"/>
          <p:cNvSpPr/>
          <p:nvPr/>
        </p:nvSpPr>
        <p:spPr>
          <a:xfrm>
            <a:off x="534953" y="3896390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Class imbalance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e5bda0a1c8_0_36"/>
          <p:cNvSpPr/>
          <p:nvPr/>
        </p:nvSpPr>
        <p:spPr>
          <a:xfrm>
            <a:off x="534953" y="4134035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5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evus (nv) represents 67% of all images. Bening:malignant ratio = 4.1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e5bda0a1c8_0_36"/>
          <p:cNvSpPr/>
          <p:nvPr/>
        </p:nvSpPr>
        <p:spPr>
          <a:xfrm>
            <a:off x="365735" y="1197870"/>
            <a:ext cx="841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Image distribution by skin lesion type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e5bda0a1c8_0_36"/>
          <p:cNvSpPr/>
          <p:nvPr/>
        </p:nvSpPr>
        <p:spPr>
          <a:xfrm>
            <a:off x="1077055" y="1481315"/>
            <a:ext cx="1280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Nevus (nv)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e5bda0a1c8_0_36"/>
          <p:cNvSpPr/>
          <p:nvPr/>
        </p:nvSpPr>
        <p:spPr>
          <a:xfrm>
            <a:off x="2672835" y="1481390"/>
            <a:ext cx="5623500" cy="246900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e5bda0a1c8_0_36"/>
          <p:cNvSpPr/>
          <p:nvPr/>
        </p:nvSpPr>
        <p:spPr>
          <a:xfrm>
            <a:off x="2672835" y="1481390"/>
            <a:ext cx="5623500" cy="2469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e5bda0a1c8_0_36"/>
          <p:cNvSpPr/>
          <p:nvPr/>
        </p:nvSpPr>
        <p:spPr>
          <a:xfrm>
            <a:off x="7793475" y="1481390"/>
            <a:ext cx="457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6,705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e5bda0a1c8_0_36"/>
          <p:cNvSpPr/>
          <p:nvPr/>
        </p:nvSpPr>
        <p:spPr>
          <a:xfrm>
            <a:off x="1077055" y="1783067"/>
            <a:ext cx="1280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Melanoma (mel)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e5bda0a1c8_0_36"/>
          <p:cNvSpPr/>
          <p:nvPr/>
        </p:nvSpPr>
        <p:spPr>
          <a:xfrm>
            <a:off x="2672835" y="1783142"/>
            <a:ext cx="5623500" cy="246900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e5bda0a1c8_0_36"/>
          <p:cNvSpPr/>
          <p:nvPr/>
        </p:nvSpPr>
        <p:spPr>
          <a:xfrm>
            <a:off x="2672835" y="1783142"/>
            <a:ext cx="933600" cy="2469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5bda0a1c8_0_36"/>
          <p:cNvSpPr/>
          <p:nvPr/>
        </p:nvSpPr>
        <p:spPr>
          <a:xfrm>
            <a:off x="3103401" y="1783142"/>
            <a:ext cx="457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1,113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e5bda0a1c8_0_36"/>
          <p:cNvSpPr/>
          <p:nvPr/>
        </p:nvSpPr>
        <p:spPr>
          <a:xfrm>
            <a:off x="1077055" y="2084819"/>
            <a:ext cx="1280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Benign ker. (bkl)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e5bda0a1c8_0_36"/>
          <p:cNvSpPr/>
          <p:nvPr/>
        </p:nvSpPr>
        <p:spPr>
          <a:xfrm>
            <a:off x="2672835" y="2084894"/>
            <a:ext cx="5623500" cy="246900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e5bda0a1c8_0_36"/>
          <p:cNvSpPr/>
          <p:nvPr/>
        </p:nvSpPr>
        <p:spPr>
          <a:xfrm>
            <a:off x="2672835" y="2084894"/>
            <a:ext cx="921600" cy="2469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e5bda0a1c8_0_36"/>
          <p:cNvSpPr/>
          <p:nvPr/>
        </p:nvSpPr>
        <p:spPr>
          <a:xfrm>
            <a:off x="3091659" y="2084894"/>
            <a:ext cx="457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1,099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e5bda0a1c8_0_36"/>
          <p:cNvSpPr/>
          <p:nvPr/>
        </p:nvSpPr>
        <p:spPr>
          <a:xfrm>
            <a:off x="1077055" y="2386571"/>
            <a:ext cx="1280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BCC (bcc)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e5bda0a1c8_0_36"/>
          <p:cNvSpPr/>
          <p:nvPr/>
        </p:nvSpPr>
        <p:spPr>
          <a:xfrm>
            <a:off x="2672835" y="2386646"/>
            <a:ext cx="5623500" cy="246900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e5bda0a1c8_0_36"/>
          <p:cNvSpPr/>
          <p:nvPr/>
        </p:nvSpPr>
        <p:spPr>
          <a:xfrm>
            <a:off x="2672835" y="2386646"/>
            <a:ext cx="431100" cy="2469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e5bda0a1c8_0_36"/>
          <p:cNvSpPr/>
          <p:nvPr/>
        </p:nvSpPr>
        <p:spPr>
          <a:xfrm>
            <a:off x="3149653" y="2386646"/>
            <a:ext cx="457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514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e5bda0a1c8_0_36"/>
          <p:cNvSpPr/>
          <p:nvPr/>
        </p:nvSpPr>
        <p:spPr>
          <a:xfrm>
            <a:off x="1077055" y="2688323"/>
            <a:ext cx="1280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AKIEC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e5bda0a1c8_0_36"/>
          <p:cNvSpPr/>
          <p:nvPr/>
        </p:nvSpPr>
        <p:spPr>
          <a:xfrm>
            <a:off x="2672835" y="2688398"/>
            <a:ext cx="5623500" cy="246900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e5bda0a1c8_0_36"/>
          <p:cNvSpPr/>
          <p:nvPr/>
        </p:nvSpPr>
        <p:spPr>
          <a:xfrm>
            <a:off x="2672835" y="2688398"/>
            <a:ext cx="274200" cy="2469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e5bda0a1c8_0_36"/>
          <p:cNvSpPr/>
          <p:nvPr/>
        </p:nvSpPr>
        <p:spPr>
          <a:xfrm>
            <a:off x="2992814" y="2688398"/>
            <a:ext cx="457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327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e5bda0a1c8_0_36"/>
          <p:cNvSpPr/>
          <p:nvPr/>
        </p:nvSpPr>
        <p:spPr>
          <a:xfrm>
            <a:off x="1077055" y="2990075"/>
            <a:ext cx="1280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Vascular (vasc)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e5bda0a1c8_0_36"/>
          <p:cNvSpPr/>
          <p:nvPr/>
        </p:nvSpPr>
        <p:spPr>
          <a:xfrm>
            <a:off x="2672835" y="2990150"/>
            <a:ext cx="5623500" cy="246900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e5bda0a1c8_0_36"/>
          <p:cNvSpPr/>
          <p:nvPr/>
        </p:nvSpPr>
        <p:spPr>
          <a:xfrm>
            <a:off x="2672835" y="2990150"/>
            <a:ext cx="119100" cy="2469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e5bda0a1c8_0_36"/>
          <p:cNvSpPr/>
          <p:nvPr/>
        </p:nvSpPr>
        <p:spPr>
          <a:xfrm>
            <a:off x="2837652" y="2990150"/>
            <a:ext cx="457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142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e5bda0a1c8_0_36"/>
          <p:cNvSpPr/>
          <p:nvPr/>
        </p:nvSpPr>
        <p:spPr>
          <a:xfrm>
            <a:off x="1077055" y="3291827"/>
            <a:ext cx="12801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Dermatofibroma (df)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e5bda0a1c8_0_36"/>
          <p:cNvSpPr/>
          <p:nvPr/>
        </p:nvSpPr>
        <p:spPr>
          <a:xfrm>
            <a:off x="2672835" y="3291902"/>
            <a:ext cx="5623500" cy="246900"/>
          </a:xfrm>
          <a:prstGeom prst="rect">
            <a:avLst/>
          </a:prstGeom>
          <a:solidFill>
            <a:srgbClr val="E8EEF4"/>
          </a:solidFill>
          <a:ln cap="flat" cmpd="sng" w="12700">
            <a:solidFill>
              <a:srgbClr val="E8EE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e5bda0a1c8_0_36"/>
          <p:cNvSpPr/>
          <p:nvPr/>
        </p:nvSpPr>
        <p:spPr>
          <a:xfrm>
            <a:off x="2672835" y="3291902"/>
            <a:ext cx="96600" cy="2469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e5bda0a1c8_0_36"/>
          <p:cNvSpPr/>
          <p:nvPr/>
        </p:nvSpPr>
        <p:spPr>
          <a:xfrm>
            <a:off x="2815007" y="3291902"/>
            <a:ext cx="457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115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e5bda0a1c8_0_36"/>
          <p:cNvSpPr/>
          <p:nvPr/>
        </p:nvSpPr>
        <p:spPr>
          <a:xfrm>
            <a:off x="2672835" y="3639374"/>
            <a:ext cx="118800" cy="118800"/>
          </a:xfrm>
          <a:prstGeom prst="rect">
            <a:avLst/>
          </a:prstGeom>
          <a:solidFill>
            <a:srgbClr val="1B5EA6"/>
          </a:solidFill>
          <a:ln cap="flat" cmpd="sng" w="12700">
            <a:solidFill>
              <a:srgbClr val="1B5E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e5bda0a1c8_0_36"/>
          <p:cNvSpPr/>
          <p:nvPr/>
        </p:nvSpPr>
        <p:spPr>
          <a:xfrm>
            <a:off x="2828283" y="3621086"/>
            <a:ext cx="5487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Benign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e5bda0a1c8_0_36"/>
          <p:cNvSpPr/>
          <p:nvPr/>
        </p:nvSpPr>
        <p:spPr>
          <a:xfrm>
            <a:off x="3450075" y="3639374"/>
            <a:ext cx="118800" cy="1188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e5bda0a1c8_0_36"/>
          <p:cNvSpPr/>
          <p:nvPr/>
        </p:nvSpPr>
        <p:spPr>
          <a:xfrm>
            <a:off x="3605523" y="3621086"/>
            <a:ext cx="7314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Malignant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e5bda0a1c8_0_36"/>
          <p:cNvSpPr/>
          <p:nvPr/>
        </p:nvSpPr>
        <p:spPr>
          <a:xfrm>
            <a:off x="379476" y="4595924"/>
            <a:ext cx="54900" cy="444300"/>
          </a:xfrm>
          <a:prstGeom prst="rect">
            <a:avLst/>
          </a:prstGeom>
          <a:solidFill>
            <a:srgbClr val="C47B17"/>
          </a:solidFill>
          <a:ln cap="flat" cmpd="sng" w="12700">
            <a:solidFill>
              <a:srgbClr val="C47B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C47B17"/>
              </a:solidFill>
              <a:highlight>
                <a:srgbClr val="C47B17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e5bda0a1c8_0_36"/>
          <p:cNvSpPr/>
          <p:nvPr/>
        </p:nvSpPr>
        <p:spPr>
          <a:xfrm>
            <a:off x="534928" y="4537415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300"/>
              <a:buFont typeface="Calibri"/>
              <a:buNone/>
            </a:pPr>
            <a:r>
              <a:rPr b="1"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Data leakage risk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e5bda0a1c8_0_36"/>
          <p:cNvSpPr/>
          <p:nvPr/>
        </p:nvSpPr>
        <p:spPr>
          <a:xfrm>
            <a:off x="534928" y="4774997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50"/>
              <a:buFont typeface="Calibri"/>
              <a:buNone/>
            </a:pPr>
            <a:r>
              <a:t/>
            </a:r>
            <a:endParaRPr sz="1000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5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7,470 unique lesions for 10,015 images. Fixed with GroupShuffleSplit by lesion_id.</a:t>
            </a:r>
            <a:endParaRPr sz="1000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50"/>
              <a:buFont typeface="Calibri"/>
              <a:buNone/>
            </a:pPr>
            <a:r>
              <a:t/>
            </a:r>
            <a:endParaRPr sz="1000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5bda0a1c8_0_121"/>
          <p:cNvSpPr/>
          <p:nvPr/>
        </p:nvSpPr>
        <p:spPr>
          <a:xfrm>
            <a:off x="411480" y="256032"/>
            <a:ext cx="1280100" cy="237600"/>
          </a:xfrm>
          <a:prstGeom prst="rect">
            <a:avLst/>
          </a:prstGeom>
          <a:solidFill>
            <a:srgbClr val="C47B17"/>
          </a:solidFill>
          <a:ln cap="flat" cmpd="sng" w="12700">
            <a:solidFill>
              <a:srgbClr val="C47B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e5bda0a1c8_0_121"/>
          <p:cNvSpPr/>
          <p:nvPr/>
        </p:nvSpPr>
        <p:spPr>
          <a:xfrm>
            <a:off x="411480" y="256032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b="1"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1"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e5bda0a1c8_0_121"/>
          <p:cNvSpPr/>
          <p:nvPr/>
        </p:nvSpPr>
        <p:spPr>
          <a:xfrm>
            <a:off x="411480" y="594360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e5bda0a1c8_0_121"/>
          <p:cNvSpPr/>
          <p:nvPr/>
        </p:nvSpPr>
        <p:spPr>
          <a:xfrm>
            <a:off x="411480" y="123444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Image loading and mapping w/ metadata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Remove 2 corrupted images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Resize to 224×224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ImageNet normalization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Data augmentation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Split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Train 80% · Val 10% · Test 10%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Stratified split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Group by lesion_id (TL)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g3e5bda0a1c8_0_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3850" y="440100"/>
            <a:ext cx="4007874" cy="250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e5bda0a1c8_0_121" title="ISIC_003432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0663" y="3327325"/>
            <a:ext cx="1994200" cy="14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e5bda0a1c8_0_121"/>
          <p:cNvSpPr/>
          <p:nvPr/>
        </p:nvSpPr>
        <p:spPr>
          <a:xfrm>
            <a:off x="6275466" y="2984725"/>
            <a:ext cx="324600" cy="342600"/>
          </a:xfrm>
          <a:prstGeom prst="mathPlus">
            <a:avLst>
              <a:gd fmla="val 23520" name="adj1"/>
            </a:avLst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5bda0a1c8_0_171"/>
          <p:cNvSpPr/>
          <p:nvPr/>
        </p:nvSpPr>
        <p:spPr>
          <a:xfrm>
            <a:off x="411480" y="256032"/>
            <a:ext cx="1280100" cy="237600"/>
          </a:xfrm>
          <a:prstGeom prst="rect">
            <a:avLst/>
          </a:prstGeom>
          <a:solidFill>
            <a:srgbClr val="C47B17"/>
          </a:solidFill>
          <a:ln cap="flat" cmpd="sng" w="12700">
            <a:solidFill>
              <a:srgbClr val="C47B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e5bda0a1c8_0_171"/>
          <p:cNvSpPr/>
          <p:nvPr/>
        </p:nvSpPr>
        <p:spPr>
          <a:xfrm>
            <a:off x="411480" y="256032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alibri"/>
              <a:buNone/>
            </a:pPr>
            <a:r>
              <a:rPr b="1" lang="en-US" sz="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1"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e5bda0a1c8_0_171"/>
          <p:cNvSpPr/>
          <p:nvPr/>
        </p:nvSpPr>
        <p:spPr>
          <a:xfrm>
            <a:off x="411480" y="594360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Models Optimization and Metrics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e5bda0a1c8_0_171"/>
          <p:cNvSpPr/>
          <p:nvPr/>
        </p:nvSpPr>
        <p:spPr>
          <a:xfrm>
            <a:off x="411480" y="124654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 Entropy Loss function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Imbalance Management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weights: 	W_c = N/ (K * N_c)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Weighted Random Sampler:  forces balanced batch sampling.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Metrics: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Macro F1-score  (primary)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Precision / Recall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○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g3e5bda0a1c8_0_171" title="1_qUG9a4qzUSsoSTrpkr4ugA.png"/>
          <p:cNvPicPr preferRelativeResize="0"/>
          <p:nvPr/>
        </p:nvPicPr>
        <p:blipFill rotWithShape="1">
          <a:blip r:embed="rId3">
            <a:alphaModFix/>
          </a:blip>
          <a:srcRect b="0" l="41469" r="0" t="0"/>
          <a:stretch/>
        </p:blipFill>
        <p:spPr>
          <a:xfrm>
            <a:off x="4610125" y="2867625"/>
            <a:ext cx="3548051" cy="177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5bda0a1c8_0_139"/>
          <p:cNvSpPr/>
          <p:nvPr/>
        </p:nvSpPr>
        <p:spPr>
          <a:xfrm>
            <a:off x="0" y="0"/>
            <a:ext cx="109800" cy="51435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e5bda0a1c8_0_139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3B8BDE">
              <a:alpha val="20000"/>
            </a:srgbClr>
          </a:solidFill>
          <a:ln cap="flat" cmpd="sng" w="12700">
            <a:solidFill>
              <a:srgbClr val="3B8BD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e5bda0a1c8_0_139"/>
          <p:cNvSpPr/>
          <p:nvPr/>
        </p:nvSpPr>
        <p:spPr>
          <a:xfrm>
            <a:off x="7955280" y="-274320"/>
            <a:ext cx="1371600" cy="1371600"/>
          </a:xfrm>
          <a:prstGeom prst="ellipse">
            <a:avLst/>
          </a:prstGeom>
          <a:solidFill>
            <a:srgbClr val="00A896">
              <a:alpha val="30199"/>
            </a:srgbClr>
          </a:solidFill>
          <a:ln cap="flat" cmpd="sng" w="12700">
            <a:solidFill>
              <a:srgbClr val="00A896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e5bda0a1c8_0_139"/>
          <p:cNvSpPr/>
          <p:nvPr/>
        </p:nvSpPr>
        <p:spPr>
          <a:xfrm>
            <a:off x="1744133" y="2028613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</a:t>
            </a:r>
            <a:r>
              <a:rPr b="1" i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SIMPLECNN</a:t>
            </a:r>
            <a:endParaRPr i="1"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e5bda0a1c8_0_139"/>
          <p:cNvSpPr/>
          <p:nvPr/>
        </p:nvSpPr>
        <p:spPr>
          <a:xfrm>
            <a:off x="457200" y="21488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5bda0a1c8_0_154"/>
          <p:cNvSpPr/>
          <p:nvPr/>
        </p:nvSpPr>
        <p:spPr>
          <a:xfrm>
            <a:off x="411480" y="256032"/>
            <a:ext cx="1280100" cy="237600"/>
          </a:xfrm>
          <a:prstGeom prst="rect">
            <a:avLst/>
          </a:prstGeom>
          <a:solidFill>
            <a:srgbClr val="C47B17"/>
          </a:solidFill>
          <a:ln cap="flat" cmpd="sng" w="12700">
            <a:solidFill>
              <a:srgbClr val="C47B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e5bda0a1c8_0_154"/>
          <p:cNvSpPr/>
          <p:nvPr/>
        </p:nvSpPr>
        <p:spPr>
          <a:xfrm>
            <a:off x="411480" y="256032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e5bda0a1c8_0_154"/>
          <p:cNvSpPr/>
          <p:nvPr/>
        </p:nvSpPr>
        <p:spPr>
          <a:xfrm>
            <a:off x="411480" y="594360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g3e5bda0a1c8_0_154" title="Gemini_Generated_Image_tu8h0utu8h0utu8h.png"/>
          <p:cNvPicPr preferRelativeResize="0"/>
          <p:nvPr/>
        </p:nvPicPr>
        <p:blipFill rotWithShape="1">
          <a:blip r:embed="rId3">
            <a:alphaModFix/>
          </a:blip>
          <a:srcRect b="0" l="0" r="0" t="9428"/>
          <a:stretch/>
        </p:blipFill>
        <p:spPr>
          <a:xfrm>
            <a:off x="3177350" y="350100"/>
            <a:ext cx="5126502" cy="253245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e5bda0a1c8_0_154"/>
          <p:cNvSpPr/>
          <p:nvPr/>
        </p:nvSpPr>
        <p:spPr>
          <a:xfrm>
            <a:off x="540825" y="3199175"/>
            <a:ext cx="5388300" cy="18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considerations: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leakage assumed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weight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Adam optimizer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 fixed epochs · no scheduler · no early stopping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5bda0a1c8_0_85"/>
          <p:cNvSpPr/>
          <p:nvPr/>
        </p:nvSpPr>
        <p:spPr>
          <a:xfrm>
            <a:off x="411480" y="256032"/>
            <a:ext cx="1280100" cy="237600"/>
          </a:xfrm>
          <a:prstGeom prst="rect">
            <a:avLst/>
          </a:prstGeom>
          <a:solidFill>
            <a:srgbClr val="C47B17"/>
          </a:solidFill>
          <a:ln cap="flat" cmpd="sng" w="12700">
            <a:solidFill>
              <a:srgbClr val="C47B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e5bda0a1c8_0_85"/>
          <p:cNvSpPr/>
          <p:nvPr/>
        </p:nvSpPr>
        <p:spPr>
          <a:xfrm>
            <a:off x="411480" y="256032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g3e5bda0a1c8_0_85"/>
          <p:cNvPicPr preferRelativeResize="0"/>
          <p:nvPr/>
        </p:nvPicPr>
        <p:blipFill rotWithShape="1">
          <a:blip r:embed="rId3">
            <a:alphaModFix/>
          </a:blip>
          <a:srcRect b="0" l="0" r="0" t="7544"/>
          <a:stretch/>
        </p:blipFill>
        <p:spPr>
          <a:xfrm>
            <a:off x="2360600" y="3041550"/>
            <a:ext cx="3367250" cy="201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e5bda0a1c8_0_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8325" y="529344"/>
            <a:ext cx="5829801" cy="240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e5bda0a1c8_0_85"/>
          <p:cNvSpPr txBox="1"/>
          <p:nvPr/>
        </p:nvSpPr>
        <p:spPr>
          <a:xfrm>
            <a:off x="240175" y="3664450"/>
            <a:ext cx="18516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TEST RESULTS: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e5bda0a1c8_0_85"/>
          <p:cNvSpPr txBox="1"/>
          <p:nvPr/>
        </p:nvSpPr>
        <p:spPr>
          <a:xfrm>
            <a:off x="240175" y="1151975"/>
            <a:ext cx="18516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TRAINING CURVES: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3B8BDE">
              <a:alpha val="20000"/>
            </a:srgbClr>
          </a:solidFill>
          <a:ln cap="flat" cmpd="sng" w="12700">
            <a:solidFill>
              <a:srgbClr val="3B8BD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"/>
          <p:cNvSpPr/>
          <p:nvPr/>
        </p:nvSpPr>
        <p:spPr>
          <a:xfrm>
            <a:off x="7955280" y="-274320"/>
            <a:ext cx="1371600" cy="1371600"/>
          </a:xfrm>
          <a:prstGeom prst="ellipse">
            <a:avLst/>
          </a:prstGeom>
          <a:solidFill>
            <a:srgbClr val="00A896">
              <a:alpha val="30196"/>
            </a:srgbClr>
          </a:solidFill>
          <a:ln cap="flat" cmpd="sng" w="12700">
            <a:solidFill>
              <a:srgbClr val="00A89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"/>
          <p:cNvSpPr/>
          <p:nvPr/>
        </p:nvSpPr>
        <p:spPr>
          <a:xfrm>
            <a:off x="1744133" y="2028613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TRANSFER LEARNING 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"/>
          <p:cNvSpPr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"/>
          <p:cNvSpPr/>
          <p:nvPr/>
        </p:nvSpPr>
        <p:spPr>
          <a:xfrm>
            <a:off x="411480" y="201168"/>
            <a:ext cx="1645920" cy="237744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"/>
          <p:cNvSpPr/>
          <p:nvPr/>
        </p:nvSpPr>
        <p:spPr>
          <a:xfrm>
            <a:off x="411480" y="20116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TRANSFER LEARNING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Shared Phase 1 — Head-Only Warmup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411480" y="1097280"/>
            <a:ext cx="397764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411480" y="1097280"/>
            <a:ext cx="64008" cy="713232"/>
          </a:xfrm>
          <a:prstGeom prst="rect">
            <a:avLst/>
          </a:prstGeom>
          <a:solidFill>
            <a:srgbClr val="3B8BDE"/>
          </a:solidFill>
          <a:ln cap="flat" cmpd="sng" w="12700">
            <a:solidFill>
              <a:srgbClr val="3B8B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566928" y="115214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BD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B8BDE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566928" y="1408176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Fully frozen — weights unchanged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411480" y="1938528"/>
            <a:ext cx="397764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411480" y="1938528"/>
            <a:ext cx="64008" cy="713232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566928" y="199339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566928" y="2249424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Only the new 7-class head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411480" y="2779776"/>
            <a:ext cx="397764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"/>
          <p:cNvSpPr/>
          <p:nvPr/>
        </p:nvSpPr>
        <p:spPr>
          <a:xfrm>
            <a:off x="411480" y="2779776"/>
            <a:ext cx="64008" cy="713232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"/>
          <p:cNvSpPr/>
          <p:nvPr/>
        </p:nvSpPr>
        <p:spPr>
          <a:xfrm>
            <a:off x="566928" y="283464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Config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566928" y="309067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5 epochs · lr = 1e-3 · Adam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411480" y="3621024"/>
            <a:ext cx="397764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"/>
          <p:cNvSpPr/>
          <p:nvPr/>
        </p:nvSpPr>
        <p:spPr>
          <a:xfrm>
            <a:off x="411480" y="3621024"/>
            <a:ext cx="64008" cy="713232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"/>
          <p:cNvSpPr/>
          <p:nvPr/>
        </p:nvSpPr>
        <p:spPr>
          <a:xfrm>
            <a:off x="566928" y="367588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"/>
          <p:cNvSpPr/>
          <p:nvPr/>
        </p:nvSpPr>
        <p:spPr>
          <a:xfrm>
            <a:off x="566928" y="39319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phase1_checkpointed — shared across Exp 1, 2, 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"/>
          <p:cNvSpPr/>
          <p:nvPr/>
        </p:nvSpPr>
        <p:spPr>
          <a:xfrm>
            <a:off x="4663440" y="1078992"/>
            <a:ext cx="3977640" cy="1572768"/>
          </a:xfrm>
          <a:prstGeom prst="rect">
            <a:avLst/>
          </a:prstGeom>
          <a:solidFill>
            <a:srgbClr val="EEF4FB"/>
          </a:solidFill>
          <a:ln cap="flat" cmpd="sng" w="10150">
            <a:solidFill>
              <a:srgbClr val="3B8B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"/>
          <p:cNvSpPr/>
          <p:nvPr/>
        </p:nvSpPr>
        <p:spPr>
          <a:xfrm>
            <a:off x="4663440" y="1078992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BDE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3B8BDE"/>
                </a:solidFill>
                <a:latin typeface="Calibri"/>
                <a:ea typeface="Calibri"/>
                <a:cs typeface="Calibri"/>
                <a:sym typeface="Calibri"/>
              </a:rPr>
              <a:t>BACKBONE — FROZEN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"/>
          <p:cNvSpPr/>
          <p:nvPr/>
        </p:nvSpPr>
        <p:spPr>
          <a:xfrm>
            <a:off x="4846320" y="1389888"/>
            <a:ext cx="3611880" cy="256032"/>
          </a:xfrm>
          <a:prstGeom prst="rect">
            <a:avLst/>
          </a:prstGeom>
          <a:solidFill>
            <a:srgbClr val="D4E4F7"/>
          </a:solidFill>
          <a:ln cap="flat" cmpd="sng" w="9525">
            <a:solidFill>
              <a:srgbClr val="3B8B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"/>
          <p:cNvSpPr/>
          <p:nvPr/>
        </p:nvSpPr>
        <p:spPr>
          <a:xfrm>
            <a:off x="4846320" y="1389888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MBConv Blocks 1–7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"/>
          <p:cNvSpPr/>
          <p:nvPr/>
        </p:nvSpPr>
        <p:spPr>
          <a:xfrm>
            <a:off x="4846320" y="1719072"/>
            <a:ext cx="3611880" cy="256032"/>
          </a:xfrm>
          <a:prstGeom prst="rect">
            <a:avLst/>
          </a:prstGeom>
          <a:solidFill>
            <a:srgbClr val="D4E4F7"/>
          </a:solidFill>
          <a:ln cap="flat" cmpd="sng" w="9525">
            <a:solidFill>
              <a:srgbClr val="3B8B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"/>
          <p:cNvSpPr/>
          <p:nvPr/>
        </p:nvSpPr>
        <p:spPr>
          <a:xfrm>
            <a:off x="4846320" y="1719072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Conv Head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"/>
          <p:cNvSpPr/>
          <p:nvPr/>
        </p:nvSpPr>
        <p:spPr>
          <a:xfrm>
            <a:off x="4846320" y="2048256"/>
            <a:ext cx="3611880" cy="256032"/>
          </a:xfrm>
          <a:prstGeom prst="rect">
            <a:avLst/>
          </a:prstGeom>
          <a:solidFill>
            <a:srgbClr val="D4E4F7"/>
          </a:solidFill>
          <a:ln cap="flat" cmpd="sng" w="9525">
            <a:solidFill>
              <a:srgbClr val="3B8B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"/>
          <p:cNvSpPr/>
          <p:nvPr/>
        </p:nvSpPr>
        <p:spPr>
          <a:xfrm>
            <a:off x="4846320" y="2048256"/>
            <a:ext cx="3611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AdaptiveAvgPool  →  1408 features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"/>
          <p:cNvSpPr/>
          <p:nvPr/>
        </p:nvSpPr>
        <p:spPr>
          <a:xfrm>
            <a:off x="6633972" y="2679192"/>
            <a:ext cx="36576" cy="274320"/>
          </a:xfrm>
          <a:prstGeom prst="rect">
            <a:avLst/>
          </a:prstGeom>
          <a:solidFill>
            <a:srgbClr val="8899AA"/>
          </a:solidFill>
          <a:ln cap="flat" cmpd="sng" w="12700">
            <a:solidFill>
              <a:srgbClr val="8899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"/>
          <p:cNvSpPr/>
          <p:nvPr/>
        </p:nvSpPr>
        <p:spPr>
          <a:xfrm>
            <a:off x="6469380" y="2633472"/>
            <a:ext cx="365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"/>
          <p:cNvSpPr/>
          <p:nvPr/>
        </p:nvSpPr>
        <p:spPr>
          <a:xfrm>
            <a:off x="4663440" y="2944368"/>
            <a:ext cx="3977640" cy="1874520"/>
          </a:xfrm>
          <a:prstGeom prst="rect">
            <a:avLst/>
          </a:prstGeom>
          <a:solidFill>
            <a:srgbClr val="E6F8F5"/>
          </a:solidFill>
          <a:ln cap="flat" cmpd="sng" w="101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"/>
          <p:cNvSpPr/>
          <p:nvPr/>
        </p:nvSpPr>
        <p:spPr>
          <a:xfrm>
            <a:off x="4663440" y="294436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NEW HEAD — TRAINABLE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"/>
          <p:cNvSpPr/>
          <p:nvPr/>
        </p:nvSpPr>
        <p:spPr>
          <a:xfrm>
            <a:off x="4846320" y="3255264"/>
            <a:ext cx="3611880" cy="274320"/>
          </a:xfrm>
          <a:prstGeom prst="rect">
            <a:avLst/>
          </a:prstGeom>
          <a:solidFill>
            <a:srgbClr val="C5EDE6"/>
          </a:solidFill>
          <a:ln cap="flat" cmpd="sng" w="95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"/>
          <p:cNvSpPr/>
          <p:nvPr/>
        </p:nvSpPr>
        <p:spPr>
          <a:xfrm>
            <a:off x="4846320" y="3255264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Dropout (p=0.4)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"/>
          <p:cNvSpPr/>
          <p:nvPr/>
        </p:nvSpPr>
        <p:spPr>
          <a:xfrm>
            <a:off x="4846320" y="3593592"/>
            <a:ext cx="3611880" cy="274320"/>
          </a:xfrm>
          <a:prstGeom prst="rect">
            <a:avLst/>
          </a:prstGeom>
          <a:solidFill>
            <a:srgbClr val="C5EDE6"/>
          </a:solidFill>
          <a:ln cap="flat" cmpd="sng" w="95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"/>
          <p:cNvSpPr/>
          <p:nvPr/>
        </p:nvSpPr>
        <p:spPr>
          <a:xfrm>
            <a:off x="4846320" y="3593592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Linear  1408 → 512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"/>
          <p:cNvSpPr/>
          <p:nvPr/>
        </p:nvSpPr>
        <p:spPr>
          <a:xfrm>
            <a:off x="4846320" y="3931920"/>
            <a:ext cx="3611880" cy="274320"/>
          </a:xfrm>
          <a:prstGeom prst="rect">
            <a:avLst/>
          </a:prstGeom>
          <a:solidFill>
            <a:srgbClr val="C5EDE6"/>
          </a:solidFill>
          <a:ln cap="flat" cmpd="sng" w="95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"/>
          <p:cNvSpPr/>
          <p:nvPr/>
        </p:nvSpPr>
        <p:spPr>
          <a:xfrm>
            <a:off x="4846320" y="393192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ReLU  ·  Dropout (p=0.3)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"/>
          <p:cNvSpPr/>
          <p:nvPr/>
        </p:nvSpPr>
        <p:spPr>
          <a:xfrm>
            <a:off x="4846320" y="4270248"/>
            <a:ext cx="3611880" cy="274320"/>
          </a:xfrm>
          <a:prstGeom prst="rect">
            <a:avLst/>
          </a:prstGeom>
          <a:solidFill>
            <a:srgbClr val="00A896"/>
          </a:solidFill>
          <a:ln cap="flat" cmpd="sng" w="95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"/>
          <p:cNvSpPr/>
          <p:nvPr/>
        </p:nvSpPr>
        <p:spPr>
          <a:xfrm>
            <a:off x="4846320" y="4270248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  512 → 7 classes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solidFill>
            <a:srgbClr val="EEF4FB"/>
          </a:solidFill>
          <a:ln cap="flat" cmpd="sng" w="9525">
            <a:solidFill>
              <a:srgbClr val="3B8B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"/>
          <p:cNvSpPr/>
          <p:nvPr/>
        </p:nvSpPr>
        <p:spPr>
          <a:xfrm>
            <a:off x="548640" y="4617720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Why shared? </a:t>
            </a:r>
            <a:r>
              <a:rPr lang="en-US" sz="105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All experiments start from the same checkpoint — differences in results come purely from the Phase 2 strategy, not from warmup variation.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g409503f6562_0_1" title="ChatGPT Image 31 may 2026, 16_17_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25" y="93700"/>
            <a:ext cx="8798925" cy="495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"/>
          <p:cNvSpPr/>
          <p:nvPr/>
        </p:nvSpPr>
        <p:spPr>
          <a:xfrm>
            <a:off x="411480" y="201168"/>
            <a:ext cx="1463040" cy="237744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4"/>
          <p:cNvSpPr/>
          <p:nvPr/>
        </p:nvSpPr>
        <p:spPr>
          <a:xfrm>
            <a:off x="411480" y="20116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TRANSFER LEARNING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4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Experiment 1 — Baseline Fine-Tuning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"/>
          <p:cNvSpPr/>
          <p:nvPr/>
        </p:nvSpPr>
        <p:spPr>
          <a:xfrm>
            <a:off x="411480" y="1097280"/>
            <a:ext cx="8321040" cy="502920"/>
          </a:xfrm>
          <a:prstGeom prst="rect">
            <a:avLst/>
          </a:prstGeom>
          <a:solidFill>
            <a:srgbClr val="EEF4FB"/>
          </a:solidFill>
          <a:ln cap="flat" cmpd="sng" w="9525">
            <a:solidFill>
              <a:srgbClr val="3B8BD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Shared Phase 1: </a:t>
            </a: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Backbone frozen · 5 epochs · lr = 1e-3 · head-only warmup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411480" y="1719072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Experiment 1 Setup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4"/>
          <p:cNvSpPr/>
          <p:nvPr/>
        </p:nvSpPr>
        <p:spPr>
          <a:xfrm>
            <a:off x="411480" y="2029968"/>
            <a:ext cx="4114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Backbone fully unfrozen for end-to-end fine-tuning.</a:t>
            </a:r>
            <a:endParaRPr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15 epochs · Adam optimizer · lr = 1e-4 · weight_decay = 1e-5.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CrossEntropyLoss with class weights — penalizes minority class errors.</a:t>
            </a:r>
            <a:endParaRPr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4709160" y="1719072"/>
            <a:ext cx="3931920" cy="3081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"/>
          <p:cNvSpPr/>
          <p:nvPr/>
        </p:nvSpPr>
        <p:spPr>
          <a:xfrm>
            <a:off x="4709160" y="1719072"/>
            <a:ext cx="3931920" cy="292608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4709160" y="171907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EfficientNet-B2 Architecture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4800600" y="207568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"/>
          <p:cNvSpPr/>
          <p:nvPr/>
        </p:nvSpPr>
        <p:spPr>
          <a:xfrm>
            <a:off x="6263640" y="207568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EfficientNet-B2 (ImageNet)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4"/>
          <p:cNvSpPr/>
          <p:nvPr/>
        </p:nvSpPr>
        <p:spPr>
          <a:xfrm>
            <a:off x="4800600" y="2496312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4"/>
          <p:cNvSpPr/>
          <p:nvPr/>
        </p:nvSpPr>
        <p:spPr>
          <a:xfrm>
            <a:off x="6263640" y="2496312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9.1M total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4"/>
          <p:cNvSpPr/>
          <p:nvPr/>
        </p:nvSpPr>
        <p:spPr>
          <a:xfrm>
            <a:off x="4800600" y="2916936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Trainable (Phase 2)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6263640" y="2916936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100% unfrozen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"/>
          <p:cNvSpPr/>
          <p:nvPr/>
        </p:nvSpPr>
        <p:spPr>
          <a:xfrm>
            <a:off x="4800600" y="3337560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Input size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4"/>
          <p:cNvSpPr/>
          <p:nvPr/>
        </p:nvSpPr>
        <p:spPr>
          <a:xfrm>
            <a:off x="6263640" y="333756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224 × 224 px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4"/>
          <p:cNvSpPr/>
          <p:nvPr/>
        </p:nvSpPr>
        <p:spPr>
          <a:xfrm>
            <a:off x="4800600" y="3758184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4"/>
          <p:cNvSpPr/>
          <p:nvPr/>
        </p:nvSpPr>
        <p:spPr>
          <a:xfrm>
            <a:off x="6263640" y="375818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Dropout → Linear(1408→512) → ReLU → Linear(512→7)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"/>
          <p:cNvSpPr/>
          <p:nvPr/>
        </p:nvSpPr>
        <p:spPr>
          <a:xfrm>
            <a:off x="4800600" y="417880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Optimizer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"/>
          <p:cNvSpPr/>
          <p:nvPr/>
        </p:nvSpPr>
        <p:spPr>
          <a:xfrm>
            <a:off x="6263640" y="417880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Adam · lr=1e-4 · wd=1e-5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"/>
          <p:cNvSpPr/>
          <p:nvPr/>
        </p:nvSpPr>
        <p:spPr>
          <a:xfrm>
            <a:off x="411480" y="201168"/>
            <a:ext cx="1463040" cy="237744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411480" y="20116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 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Training Curves — Loss · Accuracy · Macro-F1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Exp1_EN_baseline_curves.png" id="274" name="Google Shape;2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051560"/>
            <a:ext cx="832104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5"/>
          <p:cNvSpPr/>
          <p:nvPr/>
        </p:nvSpPr>
        <p:spPr>
          <a:xfrm>
            <a:off x="411480" y="4005072"/>
            <a:ext cx="265176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411480" y="4005072"/>
            <a:ext cx="54864" cy="914400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521208" y="4041648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Loss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521208" y="4279392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Train ↓ 0.93→0.22 consistently. Val stabilizes 0.65 from epoch 5 — mild overfitting, controlled.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3227832" y="4005072"/>
            <a:ext cx="265176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3227832" y="4005072"/>
            <a:ext cx="54864" cy="9144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3337560" y="4041648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3337560" y="4279392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Train reaches 85%, val plateaus at 80% from epoch 8. 5-pt gap acceptable.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6044184" y="4005072"/>
            <a:ext cx="265176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5"/>
          <p:cNvSpPr/>
          <p:nvPr/>
        </p:nvSpPr>
        <p:spPr>
          <a:xfrm>
            <a:off x="6044184" y="4005072"/>
            <a:ext cx="54864" cy="9144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6153912" y="4041648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Macro-F1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5"/>
          <p:cNvSpPr/>
          <p:nvPr/>
        </p:nvSpPr>
        <p:spPr>
          <a:xfrm>
            <a:off x="6153912" y="4279392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Grows 0.55→0.73 without plateauing. Model still improving at epoch 15.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6"/>
          <p:cNvSpPr/>
          <p:nvPr/>
        </p:nvSpPr>
        <p:spPr>
          <a:xfrm>
            <a:off x="411480" y="201168"/>
            <a:ext cx="1463040" cy="237744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411480" y="20116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 1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Test Metrics — Experiment 1 Baseline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411480" y="1097280"/>
            <a:ext cx="192024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411480" y="1097280"/>
            <a:ext cx="1920240" cy="54864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411480" y="11887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0.638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411480" y="16642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Macro F1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2423160" y="1097280"/>
            <a:ext cx="192024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2423160" y="1097280"/>
            <a:ext cx="1920240" cy="54864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2423160" y="11887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0.964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2423160" y="16642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4434840" y="1097280"/>
            <a:ext cx="192024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4434840" y="1097280"/>
            <a:ext cx="1920240" cy="54864"/>
          </a:xfrm>
          <a:prstGeom prst="rect">
            <a:avLst/>
          </a:prstGeom>
          <a:solidFill>
            <a:srgbClr val="5C3BC7"/>
          </a:solidFill>
          <a:ln cap="flat" cmpd="sng" w="12700">
            <a:solidFill>
              <a:srgbClr val="5C3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4434840" y="11887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3BC7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5C3BC7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4434840" y="16642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6446520" y="1097280"/>
            <a:ext cx="219456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6446520" y="1097280"/>
            <a:ext cx="2194560" cy="54864"/>
          </a:xfrm>
          <a:prstGeom prst="rect">
            <a:avLst/>
          </a:prstGeom>
          <a:solidFill>
            <a:srgbClr val="E24B4A"/>
          </a:solidFill>
          <a:ln cap="flat" cmpd="sng" w="12700">
            <a:solidFill>
              <a:srgbClr val="E24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6446520" y="1199480"/>
            <a:ext cx="219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0.703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6446520" y="166420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Mel Recall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411480" y="21488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Malignant Class Recall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411476" y="2487175"/>
            <a:ext cx="31185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411480" y="2487168"/>
            <a:ext cx="54864" cy="594360"/>
          </a:xfrm>
          <a:prstGeom prst="rect">
            <a:avLst/>
          </a:prstGeom>
          <a:solidFill>
            <a:srgbClr val="E24B4A"/>
          </a:solidFill>
          <a:ln cap="flat" cmpd="sng" w="12700">
            <a:solidFill>
              <a:srgbClr val="E24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548640" y="25328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mel (Melanoma)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2560320" y="2532888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0.703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548640" y="276148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 primary clinical risk.</a:t>
            </a:r>
            <a:endParaRPr sz="950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411476" y="3172975"/>
            <a:ext cx="31185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411480" y="3172968"/>
            <a:ext cx="54864" cy="59436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548640" y="32186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bcc (Basal Cell Ca.)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2560320" y="3218688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0.811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548640" y="344728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Good — only 7 cases missed across all BCC test images.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411476" y="3858775"/>
            <a:ext cx="31185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411480" y="3858768"/>
            <a:ext cx="54864" cy="594360"/>
          </a:xfrm>
          <a:prstGeom prst="rect">
            <a:avLst/>
          </a:prstGeom>
          <a:solidFill>
            <a:srgbClr val="C47B17"/>
          </a:solidFill>
          <a:ln cap="flat" cmpd="sng" w="12700">
            <a:solidFill>
              <a:srgbClr val="C47B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6"/>
          <p:cNvSpPr/>
          <p:nvPr/>
        </p:nvSpPr>
        <p:spPr>
          <a:xfrm>
            <a:off x="548640" y="39044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akiec (Actinic Ker.)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2560320" y="3904488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B1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C47B17"/>
                </a:solidFill>
                <a:latin typeface="Calibri"/>
                <a:ea typeface="Calibri"/>
                <a:cs typeface="Calibri"/>
                <a:sym typeface="Calibri"/>
              </a:rPr>
              <a:t>0.520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548640" y="413308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Weakest malignant class — visual similarity with bkl.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Experiment_1_baseline_confusion_matrix.png" id="327" name="Google Shape;32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8642" y="2274562"/>
            <a:ext cx="5034034" cy="2391174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8"/>
          <p:cNvSpPr/>
          <p:nvPr/>
        </p:nvSpPr>
        <p:spPr>
          <a:xfrm>
            <a:off x="411480" y="201168"/>
            <a:ext cx="1463040" cy="237744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411480" y="20116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 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Experiment 2 — WeightedRandomSampler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411480" y="1097280"/>
            <a:ext cx="8321040" cy="502920"/>
          </a:xfrm>
          <a:prstGeom prst="rect">
            <a:avLst/>
          </a:prstGeom>
          <a:solidFill>
            <a:srgbClr val="E6F8F5"/>
          </a:solidFill>
          <a:ln cap="flat" cmpd="sng" w="95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Motivation: </a:t>
            </a: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Exp 1 mel recall was 0.703 — 25 melanomas missed as benign. The hypothesis is that oversampling minority classes in each batch forces the model to pay more attention to rare malignant lesions.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411480" y="171907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What Changed vs Exp 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411480" y="2029968"/>
            <a:ext cx="4114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Standard DataLoader → WeightedRandomSampler.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CrossEntropyLoss + class weights.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15 epochs </a:t>
            </a:r>
            <a:endParaRPr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4709160" y="1719072"/>
            <a:ext cx="3931920" cy="3081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4709160" y="1719072"/>
            <a:ext cx="3931920" cy="292608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4709160" y="171907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WeightedRandomSampler — How It Works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4800600" y="207568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Without sampler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6172200" y="207568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nv: ~21 imgs/batch · df: ~0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4800600" y="257860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With sampler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6172200" y="257860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All 7 classes ~4-5 imgs/batch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4800600" y="308152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Effect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6172200" y="308152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Model can't ignore rare classes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4800600" y="358444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Trade-off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6172200" y="358444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nv seen less → recall may drop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4800600" y="408736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Combined with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6172200" y="408736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class_weights in loss → double pressure on minorities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9"/>
          <p:cNvSpPr/>
          <p:nvPr/>
        </p:nvSpPr>
        <p:spPr>
          <a:xfrm>
            <a:off x="411480" y="201168"/>
            <a:ext cx="1463040" cy="237744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411480" y="20116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 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Training Curves — Loss · Accuracy · Macro-F1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Exp2_sampler_curves.png" id="361" name="Google Shape;36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051560"/>
            <a:ext cx="832104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9"/>
          <p:cNvSpPr/>
          <p:nvPr/>
        </p:nvSpPr>
        <p:spPr>
          <a:xfrm>
            <a:off x="411480" y="4005072"/>
            <a:ext cx="265176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411480" y="4005072"/>
            <a:ext cx="54864" cy="914400"/>
          </a:xfrm>
          <a:prstGeom prst="rect">
            <a:avLst/>
          </a:prstGeom>
          <a:solidFill>
            <a:srgbClr val="E24B4A"/>
          </a:solidFill>
          <a:ln cap="flat" cmpd="sng" w="12700">
            <a:solidFill>
              <a:srgbClr val="E24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521208" y="4041648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Loss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521208" y="4279392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Train collapses to ~0.05 — severe overfitting. Val stays at ~1.10 throughout. Gap is much larger than Exp 1.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3227832" y="4005072"/>
            <a:ext cx="265176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3227832" y="4005072"/>
            <a:ext cx="54864" cy="914400"/>
          </a:xfrm>
          <a:prstGeom prst="rect">
            <a:avLst/>
          </a:prstGeom>
          <a:solidFill>
            <a:srgbClr val="C47B17"/>
          </a:solidFill>
          <a:ln cap="flat" cmpd="sng" w="12700">
            <a:solidFill>
              <a:srgbClr val="C47B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3337560" y="4041648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B1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47B17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3337560" y="4279392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Train reaches 91%, val only 69% — 22pt gap vs 5pt in Exp 1. Val starts at 51% due to batch imbalance mismatch.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6044184" y="4005072"/>
            <a:ext cx="265176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6044184" y="4005072"/>
            <a:ext cx="54864" cy="9144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6153912" y="4041648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Macro-F1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6153912" y="4279392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Reaches 0.70 despite overfitting — sampler improves minority class learning even if val loss is high.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0"/>
          <p:cNvSpPr/>
          <p:nvPr/>
        </p:nvSpPr>
        <p:spPr>
          <a:xfrm>
            <a:off x="411480" y="201168"/>
            <a:ext cx="1463040" cy="237744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411480" y="20116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 2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411480" y="530352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Test Metrics — Experiment 2 Sampler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411480" y="1097280"/>
            <a:ext cx="192024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411480" y="1097280"/>
            <a:ext cx="1920240" cy="54864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411480" y="11887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0.628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411480" y="16642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Macro F1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2423160" y="1097280"/>
            <a:ext cx="192024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2423160" y="1097280"/>
            <a:ext cx="1920240" cy="54864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2423160" y="11887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0.952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2423160" y="16642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4434840" y="1097280"/>
            <a:ext cx="192024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4434840" y="1097280"/>
            <a:ext cx="1920240" cy="54864"/>
          </a:xfrm>
          <a:prstGeom prst="rect">
            <a:avLst/>
          </a:prstGeom>
          <a:solidFill>
            <a:srgbClr val="E24B4A"/>
          </a:solidFill>
          <a:ln cap="flat" cmpd="sng" w="12700">
            <a:solidFill>
              <a:srgbClr val="E24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4434840" y="11887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65%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4434840" y="1664208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6446520" y="1097280"/>
            <a:ext cx="219456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6446520" y="1097280"/>
            <a:ext cx="2194560" cy="54864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6446520" y="118872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0.873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6446520" y="166420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Mel Recall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411480" y="21488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Malignant Class Recall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411475" y="2487175"/>
            <a:ext cx="29694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411480" y="2487168"/>
            <a:ext cx="54864" cy="59436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548640" y="25328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mel (Melanoma)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2560320" y="2532888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0.873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548640" y="276148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Only 3 melanomas missed vs 25 in Exp 1 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411475" y="3172975"/>
            <a:ext cx="29694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411480" y="3172968"/>
            <a:ext cx="54864" cy="59436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548640" y="32186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bcc (Basal Cell Ca.)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2560320" y="3218688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0.865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548640" y="344728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Slight improvement from 0.811.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411476" y="3858775"/>
            <a:ext cx="29694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411480" y="3858768"/>
            <a:ext cx="54864" cy="594360"/>
          </a:xfrm>
          <a:prstGeom prst="rect">
            <a:avLst/>
          </a:prstGeom>
          <a:solidFill>
            <a:srgbClr val="C47B17"/>
          </a:solidFill>
          <a:ln cap="flat" cmpd="sng" w="12700">
            <a:solidFill>
              <a:srgbClr val="C47B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548640" y="39044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akiec (Actinic Ker.)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2560320" y="3904488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B1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C47B17"/>
                </a:solidFill>
                <a:latin typeface="Calibri"/>
                <a:ea typeface="Calibri"/>
                <a:cs typeface="Calibri"/>
                <a:sym typeface="Calibri"/>
              </a:rPr>
              <a:t>0.680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548640" y="413308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Up from 0.52 — gain despite persistent bkl confusion.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Experiment_2_sampler_confusion_matrix.png" id="414" name="Google Shape;41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8778" y="2324861"/>
            <a:ext cx="4822297" cy="2290599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2"/>
          <p:cNvSpPr/>
          <p:nvPr/>
        </p:nvSpPr>
        <p:spPr>
          <a:xfrm>
            <a:off x="411480" y="201168"/>
            <a:ext cx="1463100" cy="2376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411480" y="201168"/>
            <a:ext cx="146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 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411480" y="530352"/>
            <a:ext cx="8321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Experiment 3 — Adaptive Learning Rate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411480" y="1097280"/>
            <a:ext cx="8321100" cy="502800"/>
          </a:xfrm>
          <a:prstGeom prst="rect">
            <a:avLst/>
          </a:prstGeom>
          <a:solidFill>
            <a:srgbClr val="F3F0FE"/>
          </a:solidFill>
          <a:ln cap="flat" cmpd="sng" w="95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/>
          <p:nvPr/>
        </p:nvSpPr>
        <p:spPr>
          <a:xfrm>
            <a:off x="548640" y="1097280"/>
            <a:ext cx="8046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Motivation: </a:t>
            </a:r>
            <a:r>
              <a:rPr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Exp 2 showed severe overfitting from the sampler. The hypothesis is that an adaptive scheduler can stabilize training convergence and help the model escape local minima without batch rebalancing.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411480" y="1719072"/>
            <a:ext cx="411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What Changed vs Exp 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411480" y="2029968"/>
            <a:ext cx="4114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Standard DataLoader — no sampler (same as Exp 1).</a:t>
            </a:r>
            <a:endParaRPr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2B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Added ReduceLROnPlateau scheduler: patience=3, factor=0.5.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Automatically halves lr when val loss plateaus for 3 consecutive epochs.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Char char="•"/>
            </a:pPr>
            <a:r>
              <a:rPr lang="en-US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15 epochs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4709160" y="1719072"/>
            <a:ext cx="3931800" cy="308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4709160" y="1719072"/>
            <a:ext cx="3931800" cy="2925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4709160" y="1719072"/>
            <a:ext cx="393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ReduceLROnPlateau — How It Works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4800600" y="2075688"/>
            <a:ext cx="137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Monitors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6172200" y="2075688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Validation loss each epoch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/>
          <p:nvPr/>
        </p:nvSpPr>
        <p:spPr>
          <a:xfrm>
            <a:off x="4800600" y="2578608"/>
            <a:ext cx="137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Patience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6172200" y="2578608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3 epochs without improvement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4800600" y="3081528"/>
            <a:ext cx="137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6172200" y="3081528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lr = lr × 0.5 (halved)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4800600" y="3584448"/>
            <a:ext cx="137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6172200" y="3584448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1e-4 → 5e-5 → 2.5e-5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4800600" y="4087368"/>
            <a:ext cx="1371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Benefit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6172200" y="4087368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Avoids oscillation near convergence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3"/>
          <p:cNvSpPr/>
          <p:nvPr/>
        </p:nvSpPr>
        <p:spPr>
          <a:xfrm>
            <a:off x="411480" y="201168"/>
            <a:ext cx="1463100" cy="2376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411480" y="201168"/>
            <a:ext cx="146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 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411480" y="530352"/>
            <a:ext cx="8321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Training Curves — Loss · Accuracy · Macro-F1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411480" y="4005072"/>
            <a:ext cx="26517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411480" y="4005072"/>
            <a:ext cx="54900" cy="9144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521208" y="4041648"/>
            <a:ext cx="2469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Loss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521208" y="4279392"/>
            <a:ext cx="2469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Train ↓ 0.91→0.21. Val stabilizes ~0.65 — significant gap of ~0.44pt. Overfitting present but less severe than Exp 2. Oscillations from scheduler lr reductions.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3227832" y="4005072"/>
            <a:ext cx="26517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3227832" y="4005072"/>
            <a:ext cx="54900" cy="914400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3337560" y="4041648"/>
            <a:ext cx="2469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3337560" y="4279392"/>
            <a:ext cx="2469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Train 91%, val ~80% — 11pt gap. Similar to Exp 1 on val, confirming standard loader generalizes better than sampler.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6044184" y="4005072"/>
            <a:ext cx="26517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6044184" y="4005072"/>
            <a:ext cx="54900" cy="9144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6153912" y="4041648"/>
            <a:ext cx="2469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Macro-F1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6153912" y="4279392"/>
            <a:ext cx="2469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Peaks at ~0.74 around epoch 11-12, then drops to 0.70. Peak-then-drop caused by aggressive lr reduction at that point.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0" name="Google Shape;460;p13" title="Exp3_adaptive_lr_curv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75" y="1154512"/>
            <a:ext cx="8008177" cy="213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4"/>
          <p:cNvSpPr/>
          <p:nvPr/>
        </p:nvSpPr>
        <p:spPr>
          <a:xfrm>
            <a:off x="411480" y="201168"/>
            <a:ext cx="1463100" cy="2376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411480" y="201168"/>
            <a:ext cx="146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 3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4"/>
          <p:cNvSpPr/>
          <p:nvPr/>
        </p:nvSpPr>
        <p:spPr>
          <a:xfrm>
            <a:off x="411480" y="530352"/>
            <a:ext cx="8321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Test Metrics — Experiment 3 Adaptive LR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411480" y="1097280"/>
            <a:ext cx="19203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411480" y="1097280"/>
            <a:ext cx="1920300" cy="549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4"/>
          <p:cNvSpPr/>
          <p:nvPr/>
        </p:nvSpPr>
        <p:spPr>
          <a:xfrm>
            <a:off x="411480" y="1188720"/>
            <a:ext cx="1920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0.680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411480" y="1664208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Macro F1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4"/>
          <p:cNvSpPr/>
          <p:nvPr/>
        </p:nvSpPr>
        <p:spPr>
          <a:xfrm>
            <a:off x="2423160" y="1097280"/>
            <a:ext cx="19203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2423160" y="1097280"/>
            <a:ext cx="1920300" cy="549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4"/>
          <p:cNvSpPr/>
          <p:nvPr/>
        </p:nvSpPr>
        <p:spPr>
          <a:xfrm>
            <a:off x="2423160" y="1188720"/>
            <a:ext cx="1920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0.962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2423160" y="1664208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AUC-ROC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4434840" y="1097280"/>
            <a:ext cx="19203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4"/>
          <p:cNvSpPr/>
          <p:nvPr/>
        </p:nvSpPr>
        <p:spPr>
          <a:xfrm>
            <a:off x="4434840" y="1097280"/>
            <a:ext cx="1920300" cy="54900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4"/>
          <p:cNvSpPr/>
          <p:nvPr/>
        </p:nvSpPr>
        <p:spPr>
          <a:xfrm>
            <a:off x="4434840" y="1188720"/>
            <a:ext cx="1920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78%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4434840" y="1664208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4"/>
          <p:cNvSpPr/>
          <p:nvPr/>
        </p:nvSpPr>
        <p:spPr>
          <a:xfrm>
            <a:off x="6446520" y="1097280"/>
            <a:ext cx="219450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4"/>
          <p:cNvSpPr/>
          <p:nvPr/>
        </p:nvSpPr>
        <p:spPr>
          <a:xfrm>
            <a:off x="6446520" y="1097280"/>
            <a:ext cx="2194500" cy="54900"/>
          </a:xfrm>
          <a:prstGeom prst="rect">
            <a:avLst/>
          </a:prstGeom>
          <a:solidFill>
            <a:srgbClr val="C47B17"/>
          </a:solidFill>
          <a:ln cap="flat" cmpd="sng" w="12700">
            <a:solidFill>
              <a:srgbClr val="C47B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4"/>
          <p:cNvSpPr/>
          <p:nvPr/>
        </p:nvSpPr>
        <p:spPr>
          <a:xfrm>
            <a:off x="6446520" y="1188720"/>
            <a:ext cx="219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7B17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C47B17"/>
                </a:solidFill>
                <a:latin typeface="Calibri"/>
                <a:ea typeface="Calibri"/>
                <a:cs typeface="Calibri"/>
                <a:sym typeface="Calibri"/>
              </a:rPr>
              <a:t>0.720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4"/>
          <p:cNvSpPr/>
          <p:nvPr/>
        </p:nvSpPr>
        <p:spPr>
          <a:xfrm>
            <a:off x="6446520" y="1664208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Mel Recall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4"/>
          <p:cNvSpPr/>
          <p:nvPr/>
        </p:nvSpPr>
        <p:spPr>
          <a:xfrm>
            <a:off x="411480" y="214884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Malignant Class Recall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411476" y="2487175"/>
            <a:ext cx="34266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4"/>
          <p:cNvSpPr/>
          <p:nvPr/>
        </p:nvSpPr>
        <p:spPr>
          <a:xfrm>
            <a:off x="411480" y="2487168"/>
            <a:ext cx="54900" cy="594300"/>
          </a:xfrm>
          <a:prstGeom prst="rect">
            <a:avLst/>
          </a:prstGeom>
          <a:solidFill>
            <a:srgbClr val="C47B17"/>
          </a:solidFill>
          <a:ln cap="flat" cmpd="sng" w="12700">
            <a:solidFill>
              <a:srgbClr val="C47B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4"/>
          <p:cNvSpPr/>
          <p:nvPr/>
        </p:nvSpPr>
        <p:spPr>
          <a:xfrm>
            <a:off x="548640" y="2532888"/>
            <a:ext cx="201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mel (Melanoma)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/>
          <p:nvPr/>
        </p:nvSpPr>
        <p:spPr>
          <a:xfrm>
            <a:off x="2560320" y="2532888"/>
            <a:ext cx="73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7B1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C47B17"/>
                </a:solidFill>
                <a:latin typeface="Calibri"/>
                <a:ea typeface="Calibri"/>
                <a:cs typeface="Calibri"/>
                <a:sym typeface="Calibri"/>
              </a:rPr>
              <a:t>0.720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548640" y="2761488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Marginal improvement over Exp 1 — 25 melanomas still missed.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4"/>
          <p:cNvSpPr/>
          <p:nvPr/>
        </p:nvSpPr>
        <p:spPr>
          <a:xfrm>
            <a:off x="411475" y="3172975"/>
            <a:ext cx="33756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411480" y="3172968"/>
            <a:ext cx="54900" cy="5943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4"/>
          <p:cNvSpPr/>
          <p:nvPr/>
        </p:nvSpPr>
        <p:spPr>
          <a:xfrm>
            <a:off x="548640" y="3218688"/>
            <a:ext cx="201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bcc (Basal Cell Ca.)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2560320" y="3218688"/>
            <a:ext cx="73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0.811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4"/>
          <p:cNvSpPr/>
          <p:nvPr/>
        </p:nvSpPr>
        <p:spPr>
          <a:xfrm>
            <a:off x="548640" y="3447288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Identical to Exp 1 — scheduler has no effect on bcc detection.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411476" y="3858775"/>
            <a:ext cx="3375600" cy="594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/>
          <p:nvPr/>
        </p:nvSpPr>
        <p:spPr>
          <a:xfrm>
            <a:off x="411480" y="3858768"/>
            <a:ext cx="54900" cy="594300"/>
          </a:xfrm>
          <a:prstGeom prst="rect">
            <a:avLst/>
          </a:prstGeom>
          <a:solidFill>
            <a:srgbClr val="E24B4A"/>
          </a:solidFill>
          <a:ln cap="flat" cmpd="sng" w="12700">
            <a:solidFill>
              <a:srgbClr val="E24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4"/>
          <p:cNvSpPr/>
          <p:nvPr/>
        </p:nvSpPr>
        <p:spPr>
          <a:xfrm>
            <a:off x="548640" y="3904488"/>
            <a:ext cx="201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akiec (Actinic Ker.)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2560320" y="3904488"/>
            <a:ext cx="731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0.480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548648" y="4133100"/>
            <a:ext cx="306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Worst result across all three experiments — scheduler pushed model into poor minimum for this class.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uploads/Experiment_3_adaptive_lr_confusion_matrix.png" id="501" name="Google Shape;5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0747" y="2496313"/>
            <a:ext cx="4389403" cy="2084975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8100000" dist="38100">
              <a:srgbClr val="000000">
                <a:alpha val="102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e5bda0a1c8_0_316"/>
          <p:cNvSpPr/>
          <p:nvPr/>
        </p:nvSpPr>
        <p:spPr>
          <a:xfrm>
            <a:off x="411480" y="256032"/>
            <a:ext cx="1280100" cy="237600"/>
          </a:xfrm>
          <a:prstGeom prst="rect">
            <a:avLst/>
          </a:prstGeom>
          <a:solidFill>
            <a:srgbClr val="E24B4A"/>
          </a:solidFill>
          <a:ln cap="flat" cmpd="sng" w="12700">
            <a:solidFill>
              <a:srgbClr val="E24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e5bda0a1c8_0_316"/>
          <p:cNvSpPr/>
          <p:nvPr/>
        </p:nvSpPr>
        <p:spPr>
          <a:xfrm>
            <a:off x="411480" y="256032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e5bda0a1c8_0_316"/>
          <p:cNvSpPr/>
          <p:nvPr/>
        </p:nvSpPr>
        <p:spPr>
          <a:xfrm>
            <a:off x="411480" y="1270740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e5bda0a1c8_0_316"/>
          <p:cNvSpPr/>
          <p:nvPr/>
        </p:nvSpPr>
        <p:spPr>
          <a:xfrm>
            <a:off x="411475" y="1874650"/>
            <a:ext cx="4114800" cy="1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Transfer learning &gt; CNN baseline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Exp. 3 achieved best Macro F1 (0.68)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Exp. 2 achieved best melanoma recall (0.87)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• AUC-ROC &gt; 0.95 in all TL models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g3e5bda0a1c8_0_316"/>
          <p:cNvSpPr/>
          <p:nvPr/>
        </p:nvSpPr>
        <p:spPr>
          <a:xfrm>
            <a:off x="4846320" y="1245815"/>
            <a:ext cx="388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B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Limitations </a:t>
            </a:r>
            <a:r>
              <a:rPr b="1" lang="en-US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r>
              <a:rPr b="1" i="0" lang="en-US" sz="1400" u="none" cap="none" strike="noStrike">
                <a:solidFill>
                  <a:srgbClr val="E24B4A"/>
                </a:solidFill>
                <a:latin typeface="Calibri"/>
                <a:ea typeface="Calibri"/>
                <a:cs typeface="Calibri"/>
                <a:sym typeface="Calibri"/>
              </a:rPr>
              <a:t> Future Work</a:t>
            </a:r>
            <a:endParaRPr b="1">
              <a:solidFill>
                <a:srgbClr val="E24B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e5bda0a1c8_0_316"/>
          <p:cNvSpPr/>
          <p:nvPr/>
        </p:nvSpPr>
        <p:spPr>
          <a:xfrm>
            <a:off x="4846320" y="1764450"/>
            <a:ext cx="38862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class imbalance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Rare classes remain difficult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Single-centre dataset — geographic and demographic bias possible.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data / synthetic augmentation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consideration on malignant classes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g3e5bda0a1c8_0_316"/>
          <p:cNvSpPr/>
          <p:nvPr/>
        </p:nvSpPr>
        <p:spPr>
          <a:xfrm>
            <a:off x="411475" y="4264106"/>
            <a:ext cx="8321100" cy="582600"/>
          </a:xfrm>
          <a:prstGeom prst="rect">
            <a:avLst/>
          </a:prstGeom>
          <a:solidFill>
            <a:srgbClr val="E8F8F5"/>
          </a:solidFill>
          <a:ln cap="flat" cmpd="sng" w="9525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e5bda0a1c8_0_316"/>
          <p:cNvSpPr/>
          <p:nvPr/>
        </p:nvSpPr>
        <p:spPr>
          <a:xfrm>
            <a:off x="457225" y="4299381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0" i="1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This system is a research prototype and does not replace clinical diagnosis by a certified dermatologist.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e5bda0a1c8_0_316"/>
          <p:cNvSpPr/>
          <p:nvPr/>
        </p:nvSpPr>
        <p:spPr>
          <a:xfrm>
            <a:off x="411480" y="594360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Discussion &amp; Conclusions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e5bda0a1c8_0_203"/>
          <p:cNvSpPr/>
          <p:nvPr/>
        </p:nvSpPr>
        <p:spPr>
          <a:xfrm>
            <a:off x="411480" y="256032"/>
            <a:ext cx="1280100" cy="2376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g3e5bda0a1c8_0_203"/>
          <p:cNvSpPr/>
          <p:nvPr/>
        </p:nvSpPr>
        <p:spPr>
          <a:xfrm>
            <a:off x="411480" y="256032"/>
            <a:ext cx="1280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g3e5bda0a1c8_0_203"/>
          <p:cNvSpPr/>
          <p:nvPr/>
        </p:nvSpPr>
        <p:spPr>
          <a:xfrm>
            <a:off x="411480" y="594360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B3C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A2B3C"/>
                </a:solidFill>
                <a:latin typeface="Calibri"/>
                <a:ea typeface="Calibri"/>
                <a:cs typeface="Calibri"/>
                <a:sym typeface="Calibri"/>
              </a:rPr>
              <a:t>Deployment FastAPI + Grad-CAM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4" name="Google Shape;524;g3e5bda0a1c8_0_203" title="DermaSca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25" y="1186410"/>
            <a:ext cx="4572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g3e5bda0a1c8_0_203"/>
          <p:cNvSpPr txBox="1"/>
          <p:nvPr/>
        </p:nvSpPr>
        <p:spPr>
          <a:xfrm>
            <a:off x="679800" y="4704650"/>
            <a:ext cx="7784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A6A7A"/>
                </a:solidFill>
              </a:rPr>
              <a:t>https://drive.google.com/file/d/1YjZMFwXMMI5gNZ_xo7VBbB9hhsLOb9I9/view?usp=sharing</a:t>
            </a:r>
            <a:endParaRPr sz="1100">
              <a:solidFill>
                <a:srgbClr val="5A6A7A"/>
              </a:solidFill>
            </a:endParaRPr>
          </a:p>
        </p:txBody>
      </p:sp>
      <p:sp>
        <p:nvSpPr>
          <p:cNvPr id="526" name="Google Shape;526;g3e5bda0a1c8_0_203"/>
          <p:cNvSpPr txBox="1"/>
          <p:nvPr/>
        </p:nvSpPr>
        <p:spPr>
          <a:xfrm>
            <a:off x="113225" y="1952638"/>
            <a:ext cx="207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Dataset: Multiple Skin Disease Detection and Classification</a:t>
            </a:r>
            <a:endParaRPr sz="1200">
              <a:solidFill>
                <a:srgbClr val="5A6A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https://www.kaggle.com/datasets/pritpal2873/multiple-skin-disease-detection-and-classification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6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3B8BDE">
              <a:alpha val="14901"/>
            </a:srgbClr>
          </a:solidFill>
          <a:ln cap="flat" cmpd="sng" w="12700">
            <a:solidFill>
              <a:srgbClr val="3B8BDE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6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0A896">
              <a:alpha val="25098"/>
            </a:srgbClr>
          </a:solidFill>
          <a:ln cap="flat" cmpd="sng" w="12700">
            <a:solidFill>
              <a:srgbClr val="00A896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6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b="1" lang="en-US" sz="7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 &amp; A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6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200"/>
              <a:buFont typeface="Calibri"/>
              <a:buNone/>
            </a:pPr>
            <a:r>
              <a:rPr i="1" lang="en-US" sz="22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6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Pau Duran Mayol  ·  Ana Enrech Montull  ·  Alejandro Balboa Ruiz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UPF Deep Learning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2026-05-31T08:12:16Z</dcterms:created>
  <dc:creator>PptxGenJS</dc:creator>
</cp:coreProperties>
</file>